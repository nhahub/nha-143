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Play"/>
      <p:regular r:id="rId21"/>
      <p:bold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font" Target="fonts/Play-bold.fntdata"/><Relationship Id="rId10" Type="http://schemas.openxmlformats.org/officeDocument/2006/relationships/slide" Target="slides/slide6.xml"/><Relationship Id="rId21" Type="http://schemas.openxmlformats.org/officeDocument/2006/relationships/font" Target="fonts/Play-regular.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4.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4.jpg"/><Relationship Id="rId5" Type="http://schemas.openxmlformats.org/officeDocument/2006/relationships/image" Target="../media/image9.jpg"/><Relationship Id="rId6"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jpg"/><Relationship Id="rId4" Type="http://schemas.openxmlformats.org/officeDocument/2006/relationships/image" Target="../media/image10.png"/><Relationship Id="rId5" Type="http://schemas.openxmlformats.org/officeDocument/2006/relationships/image" Target="../media/image26.png"/><Relationship Id="rId6"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jpg"/><Relationship Id="rId4" Type="http://schemas.openxmlformats.org/officeDocument/2006/relationships/image" Target="../media/image27.jpg"/><Relationship Id="rId9" Type="http://schemas.openxmlformats.org/officeDocument/2006/relationships/image" Target="../media/image21.jpg"/><Relationship Id="rId5" Type="http://schemas.openxmlformats.org/officeDocument/2006/relationships/image" Target="../media/image19.jpg"/><Relationship Id="rId6" Type="http://schemas.openxmlformats.org/officeDocument/2006/relationships/image" Target="../media/image15.jpg"/><Relationship Id="rId7" Type="http://schemas.openxmlformats.org/officeDocument/2006/relationships/image" Target="../media/image20.jpg"/><Relationship Id="rId8"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9.pn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A group of people sitting at a table&#10;&#10;AI-generated content may be incorrect."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A blue and red logo" id="85" name="Google Shape;85;p13"/>
          <p:cNvPicPr preferRelativeResize="0"/>
          <p:nvPr/>
        </p:nvPicPr>
        <p:blipFill rotWithShape="1">
          <a:blip r:embed="rId4">
            <a:alphaModFix/>
          </a:blip>
          <a:srcRect b="0" l="0" r="0" t="0"/>
          <a:stretch/>
        </p:blipFill>
        <p:spPr>
          <a:xfrm>
            <a:off x="395041" y="113483"/>
            <a:ext cx="1314887" cy="1291407"/>
          </a:xfrm>
          <a:prstGeom prst="rect">
            <a:avLst/>
          </a:prstGeom>
          <a:noFill/>
          <a:ln>
            <a:noFill/>
          </a:ln>
        </p:spPr>
      </p:pic>
      <p:sp>
        <p:nvSpPr>
          <p:cNvPr id="86" name="Google Shape;86;p13"/>
          <p:cNvSpPr txBox="1"/>
          <p:nvPr/>
        </p:nvSpPr>
        <p:spPr>
          <a:xfrm>
            <a:off x="395041" y="5450669"/>
            <a:ext cx="2391291"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3200" u="none" cap="none" strike="noStrike">
                <a:solidFill>
                  <a:srgbClr val="FFFFFF"/>
                </a:solidFill>
                <a:latin typeface="Arial"/>
                <a:ea typeface="Arial"/>
                <a:cs typeface="Arial"/>
                <a:sym typeface="Arial"/>
              </a:rPr>
              <a:t>Data Vision</a:t>
            </a:r>
            <a:br>
              <a:rPr b="0" i="0" lang="en-US" sz="3200" u="none" cap="none" strike="noStrike">
                <a:solidFill>
                  <a:srgbClr val="FFFFFF"/>
                </a:solidFill>
                <a:latin typeface="Arial"/>
                <a:ea typeface="Arial"/>
                <a:cs typeface="Arial"/>
                <a:sym typeface="Arial"/>
              </a:rPr>
            </a:br>
            <a:r>
              <a:rPr b="0" i="0" lang="en-US" sz="3200" u="none" cap="none" strike="noStrike">
                <a:solidFill>
                  <a:srgbClr val="FFFFFF"/>
                </a:solidFill>
                <a:latin typeface="Arial"/>
                <a:ea typeface="Arial"/>
                <a:cs typeface="Arial"/>
                <a:sym typeface="Arial"/>
              </a:rPr>
              <a:t>(143)</a:t>
            </a:r>
            <a:endParaRPr/>
          </a:p>
        </p:txBody>
      </p:sp>
      <p:sp>
        <p:nvSpPr>
          <p:cNvPr id="87" name="Google Shape;87;p13"/>
          <p:cNvSpPr txBox="1"/>
          <p:nvPr/>
        </p:nvSpPr>
        <p:spPr>
          <a:xfrm>
            <a:off x="4011284" y="5750089"/>
            <a:ext cx="117319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rgbClr val="092E53"/>
                </a:solidFill>
                <a:latin typeface="Arial"/>
                <a:ea typeface="Arial"/>
                <a:cs typeface="Arial"/>
                <a:sym typeface="Arial"/>
              </a:rPr>
              <a:t>DEPI</a:t>
            </a:r>
            <a:endParaRPr/>
          </a:p>
        </p:txBody>
      </p:sp>
      <p:sp>
        <p:nvSpPr>
          <p:cNvPr id="88" name="Google Shape;88;p13"/>
          <p:cNvSpPr txBox="1"/>
          <p:nvPr/>
        </p:nvSpPr>
        <p:spPr>
          <a:xfrm>
            <a:off x="465826" y="1760330"/>
            <a:ext cx="549502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600">
                <a:solidFill>
                  <a:srgbClr val="FFFFFF"/>
                </a:solidFill>
                <a:latin typeface="Arial"/>
                <a:ea typeface="Arial"/>
                <a:cs typeface="Arial"/>
                <a:sym typeface="Arial"/>
              </a:rPr>
              <a:t>Olist Sales analytics </a:t>
            </a:r>
            <a:endParaRPr/>
          </a:p>
        </p:txBody>
      </p:sp>
      <p:sp>
        <p:nvSpPr>
          <p:cNvPr id="89" name="Google Shape;89;p13"/>
          <p:cNvSpPr txBox="1"/>
          <p:nvPr/>
        </p:nvSpPr>
        <p:spPr>
          <a:xfrm>
            <a:off x="465826" y="2416381"/>
            <a:ext cx="4231095" cy="11079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6600">
                <a:solidFill>
                  <a:srgbClr val="FFFFFF"/>
                </a:solidFill>
                <a:latin typeface="Arial"/>
                <a:ea typeface="Arial"/>
                <a:cs typeface="Arial"/>
                <a:sym typeface="Arial"/>
              </a:rPr>
              <a:t>Dashboard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5" name="Google Shape;95;p14"/>
          <p:cNvSpPr txBox="1"/>
          <p:nvPr/>
        </p:nvSpPr>
        <p:spPr>
          <a:xfrm>
            <a:off x="5227607" y="1403071"/>
            <a:ext cx="6411270"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92E53"/>
                </a:solidFill>
                <a:latin typeface="Arial"/>
                <a:ea typeface="Arial"/>
                <a:cs typeface="Arial"/>
                <a:sym typeface="Arial"/>
              </a:rPr>
              <a:t>Our team an interactive sales analytics dashboard for Olist e-commerce platform. This dashboard transforms sales data into actionable insights, enabling stakeholders to monitor performance, identify trends, and make informed business decisions.</a:t>
            </a:r>
            <a:endParaRPr/>
          </a:p>
        </p:txBody>
      </p:sp>
      <p:sp>
        <p:nvSpPr>
          <p:cNvPr id="96" name="Google Shape;96;p14"/>
          <p:cNvSpPr txBox="1"/>
          <p:nvPr/>
        </p:nvSpPr>
        <p:spPr>
          <a:xfrm rot="-5400000">
            <a:off x="5865963" y="-2513690"/>
            <a:ext cx="1216325" cy="778674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50000">
                <a:solidFill>
                  <a:srgbClr val="FFFFFF"/>
                </a:solidFill>
                <a:latin typeface="Arial"/>
                <a:ea typeface="Arial"/>
                <a:cs typeface="Arial"/>
                <a:sym typeface="Arial"/>
              </a:rPr>
              <a:t>I</a:t>
            </a:r>
            <a:endParaRPr/>
          </a:p>
        </p:txBody>
      </p:sp>
      <p:sp>
        <p:nvSpPr>
          <p:cNvPr id="97" name="Google Shape;97;p14"/>
          <p:cNvSpPr txBox="1"/>
          <p:nvPr/>
        </p:nvSpPr>
        <p:spPr>
          <a:xfrm>
            <a:off x="5227607" y="671797"/>
            <a:ext cx="2948243"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000">
                <a:solidFill>
                  <a:srgbClr val="092E53"/>
                </a:solidFill>
                <a:latin typeface="Arial"/>
                <a:ea typeface="Arial"/>
                <a:cs typeface="Arial"/>
                <a:sym typeface="Arial"/>
              </a:rPr>
              <a:t>Introduction</a:t>
            </a:r>
            <a:endParaRPr/>
          </a:p>
        </p:txBody>
      </p:sp>
      <p:sp>
        <p:nvSpPr>
          <p:cNvPr id="98" name="Google Shape;98;p14"/>
          <p:cNvSpPr txBox="1"/>
          <p:nvPr/>
        </p:nvSpPr>
        <p:spPr>
          <a:xfrm>
            <a:off x="6096000" y="2665245"/>
            <a:ext cx="100219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92E53"/>
                </a:solidFill>
                <a:latin typeface="Arial"/>
                <a:ea typeface="Arial"/>
                <a:cs typeface="Arial"/>
                <a:sym typeface="Arial"/>
              </a:rPr>
              <a:t>Analyze</a:t>
            </a:r>
            <a:endParaRPr/>
          </a:p>
        </p:txBody>
      </p:sp>
      <p:sp>
        <p:nvSpPr>
          <p:cNvPr id="99" name="Google Shape;99;p14"/>
          <p:cNvSpPr txBox="1"/>
          <p:nvPr/>
        </p:nvSpPr>
        <p:spPr>
          <a:xfrm>
            <a:off x="6096000" y="3014198"/>
            <a:ext cx="531748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92E53"/>
                </a:solidFill>
                <a:latin typeface="Arial"/>
                <a:ea typeface="Arial"/>
                <a:cs typeface="Arial"/>
                <a:sym typeface="Arial"/>
              </a:rPr>
              <a:t>Deep dive into Olist sales data and customer behavior patterns. </a:t>
            </a:r>
            <a:br>
              <a:rPr lang="en-US" sz="1400">
                <a:solidFill>
                  <a:srgbClr val="092E53"/>
                </a:solidFill>
                <a:latin typeface="Arial"/>
                <a:ea typeface="Arial"/>
                <a:cs typeface="Arial"/>
                <a:sym typeface="Arial"/>
              </a:rPr>
            </a:br>
            <a:endParaRPr sz="1400">
              <a:solidFill>
                <a:srgbClr val="092E53"/>
              </a:solidFill>
              <a:latin typeface="Arial"/>
              <a:ea typeface="Arial"/>
              <a:cs typeface="Arial"/>
              <a:sym typeface="Arial"/>
            </a:endParaRPr>
          </a:p>
        </p:txBody>
      </p:sp>
      <p:sp>
        <p:nvSpPr>
          <p:cNvPr id="100" name="Google Shape;100;p14"/>
          <p:cNvSpPr txBox="1"/>
          <p:nvPr/>
        </p:nvSpPr>
        <p:spPr>
          <a:xfrm>
            <a:off x="6096000" y="3834169"/>
            <a:ext cx="111280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92E53"/>
                </a:solidFill>
                <a:latin typeface="Arial"/>
                <a:ea typeface="Arial"/>
                <a:cs typeface="Arial"/>
                <a:sym typeface="Arial"/>
              </a:rPr>
              <a:t>Visualize</a:t>
            </a:r>
            <a:endParaRPr/>
          </a:p>
        </p:txBody>
      </p:sp>
      <p:sp>
        <p:nvSpPr>
          <p:cNvPr id="101" name="Google Shape;101;p14"/>
          <p:cNvSpPr txBox="1"/>
          <p:nvPr/>
        </p:nvSpPr>
        <p:spPr>
          <a:xfrm>
            <a:off x="6096000" y="4203501"/>
            <a:ext cx="616547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92E53"/>
                </a:solidFill>
                <a:latin typeface="Arial"/>
                <a:ea typeface="Arial"/>
                <a:cs typeface="Arial"/>
                <a:sym typeface="Arial"/>
              </a:rPr>
              <a:t>Interactive dashboard with real-time metrics and performance indicators. </a:t>
            </a:r>
            <a:br>
              <a:rPr lang="en-US" sz="1400">
                <a:solidFill>
                  <a:srgbClr val="092E53"/>
                </a:solidFill>
                <a:latin typeface="Arial"/>
                <a:ea typeface="Arial"/>
                <a:cs typeface="Arial"/>
                <a:sym typeface="Arial"/>
              </a:rPr>
            </a:br>
            <a:endParaRPr sz="1400">
              <a:solidFill>
                <a:srgbClr val="092E53"/>
              </a:solidFill>
              <a:latin typeface="Arial"/>
              <a:ea typeface="Arial"/>
              <a:cs typeface="Arial"/>
              <a:sym typeface="Arial"/>
            </a:endParaRPr>
          </a:p>
        </p:txBody>
      </p:sp>
      <p:sp>
        <p:nvSpPr>
          <p:cNvPr id="102" name="Google Shape;102;p14"/>
          <p:cNvSpPr txBox="1"/>
          <p:nvPr/>
        </p:nvSpPr>
        <p:spPr>
          <a:xfrm>
            <a:off x="6096000" y="5018483"/>
            <a:ext cx="108369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92E53"/>
                </a:solidFill>
                <a:latin typeface="Arial"/>
                <a:ea typeface="Arial"/>
                <a:cs typeface="Arial"/>
                <a:sym typeface="Arial"/>
              </a:rPr>
              <a:t>Optimize</a:t>
            </a:r>
            <a:endParaRPr/>
          </a:p>
        </p:txBody>
      </p:sp>
      <p:sp>
        <p:nvSpPr>
          <p:cNvPr id="103" name="Google Shape;103;p14"/>
          <p:cNvSpPr txBox="1"/>
          <p:nvPr/>
        </p:nvSpPr>
        <p:spPr>
          <a:xfrm>
            <a:off x="6093350" y="5484583"/>
            <a:ext cx="606287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92E53"/>
                </a:solidFill>
                <a:latin typeface="Arial"/>
                <a:ea typeface="Arial"/>
                <a:cs typeface="Arial"/>
                <a:sym typeface="Arial"/>
              </a:rPr>
              <a:t>Data-driven insights for better business decisions and growth strategies.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descr="A close-up of several icons" id="108" name="Google Shape;108;p15"/>
          <p:cNvPicPr preferRelativeResize="0"/>
          <p:nvPr/>
        </p:nvPicPr>
        <p:blipFill rotWithShape="1">
          <a:blip r:embed="rId3">
            <a:alphaModFix/>
          </a:blip>
          <a:srcRect b="0" l="0" r="0" t="0"/>
          <a:stretch/>
        </p:blipFill>
        <p:spPr>
          <a:xfrm>
            <a:off x="0" y="1668"/>
            <a:ext cx="12192000" cy="6854664"/>
          </a:xfrm>
          <a:prstGeom prst="rect">
            <a:avLst/>
          </a:prstGeom>
          <a:noFill/>
          <a:ln>
            <a:noFill/>
          </a:ln>
        </p:spPr>
      </p:pic>
      <p:sp>
        <p:nvSpPr>
          <p:cNvPr id="109" name="Google Shape;109;p15"/>
          <p:cNvSpPr txBox="1"/>
          <p:nvPr/>
        </p:nvSpPr>
        <p:spPr>
          <a:xfrm>
            <a:off x="5303520" y="837716"/>
            <a:ext cx="184056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Data Cleaning </a:t>
            </a:r>
            <a:endParaRPr/>
          </a:p>
        </p:txBody>
      </p:sp>
      <p:sp>
        <p:nvSpPr>
          <p:cNvPr id="110" name="Google Shape;110;p15"/>
          <p:cNvSpPr txBox="1"/>
          <p:nvPr/>
        </p:nvSpPr>
        <p:spPr>
          <a:xfrm>
            <a:off x="6096000" y="2351327"/>
            <a:ext cx="2491388"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Measures selection </a:t>
            </a:r>
            <a:endParaRPr/>
          </a:p>
        </p:txBody>
      </p:sp>
      <p:sp>
        <p:nvSpPr>
          <p:cNvPr id="111" name="Google Shape;111;p15"/>
          <p:cNvSpPr txBox="1"/>
          <p:nvPr/>
        </p:nvSpPr>
        <p:spPr>
          <a:xfrm>
            <a:off x="6945592" y="3854052"/>
            <a:ext cx="164179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Visualization</a:t>
            </a:r>
            <a:endParaRPr sz="1800">
              <a:solidFill>
                <a:schemeClr val="dk1"/>
              </a:solidFill>
              <a:latin typeface="Arial"/>
              <a:ea typeface="Arial"/>
              <a:cs typeface="Arial"/>
              <a:sym typeface="Arial"/>
            </a:endParaRPr>
          </a:p>
        </p:txBody>
      </p:sp>
      <p:sp>
        <p:nvSpPr>
          <p:cNvPr id="112" name="Google Shape;112;p15"/>
          <p:cNvSpPr txBox="1"/>
          <p:nvPr/>
        </p:nvSpPr>
        <p:spPr>
          <a:xfrm>
            <a:off x="7740842" y="5355192"/>
            <a:ext cx="169309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Arial"/>
                <a:ea typeface="Arial"/>
                <a:cs typeface="Arial"/>
                <a:sym typeface="Arial"/>
              </a:rPr>
              <a:t>Presentation</a:t>
            </a:r>
            <a:r>
              <a:rPr lang="en-US" sz="1800">
                <a:solidFill>
                  <a:schemeClr val="dk1"/>
                </a:solidFill>
                <a:latin typeface="Arial"/>
                <a:ea typeface="Arial"/>
                <a:cs typeface="Arial"/>
                <a:sym typeface="Arial"/>
              </a:rPr>
              <a:t> </a:t>
            </a:r>
            <a:endParaRPr/>
          </a:p>
        </p:txBody>
      </p:sp>
      <p:sp>
        <p:nvSpPr>
          <p:cNvPr id="113" name="Google Shape;113;p15"/>
          <p:cNvSpPr txBox="1"/>
          <p:nvPr/>
        </p:nvSpPr>
        <p:spPr>
          <a:xfrm>
            <a:off x="5819891" y="1289715"/>
            <a:ext cx="22509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92E53"/>
                </a:solidFill>
                <a:latin typeface="Arial"/>
                <a:ea typeface="Arial"/>
                <a:cs typeface="Arial"/>
                <a:sym typeface="Arial"/>
              </a:rPr>
              <a:t>Youssef Mohamed</a:t>
            </a:r>
            <a:endParaRPr/>
          </a:p>
        </p:txBody>
      </p:sp>
      <p:sp>
        <p:nvSpPr>
          <p:cNvPr id="114" name="Google Shape;114;p15"/>
          <p:cNvSpPr txBox="1"/>
          <p:nvPr/>
        </p:nvSpPr>
        <p:spPr>
          <a:xfrm>
            <a:off x="6444343" y="2874891"/>
            <a:ext cx="1819729"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92E53"/>
                </a:solidFill>
                <a:latin typeface="Arial"/>
                <a:ea typeface="Arial"/>
                <a:cs typeface="Arial"/>
                <a:sym typeface="Arial"/>
              </a:rPr>
              <a:t>Ahmed Walied</a:t>
            </a:r>
            <a:endParaRPr/>
          </a:p>
        </p:txBody>
      </p:sp>
      <p:sp>
        <p:nvSpPr>
          <p:cNvPr id="115" name="Google Shape;115;p15"/>
          <p:cNvSpPr txBox="1"/>
          <p:nvPr/>
        </p:nvSpPr>
        <p:spPr>
          <a:xfrm>
            <a:off x="9541098" y="6249102"/>
            <a:ext cx="21276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92E53"/>
                </a:solidFill>
                <a:latin typeface="Arial"/>
                <a:ea typeface="Arial"/>
                <a:cs typeface="Arial"/>
                <a:sym typeface="Arial"/>
              </a:rPr>
              <a:t>Mohamed Adawy</a:t>
            </a:r>
            <a:endParaRPr/>
          </a:p>
        </p:txBody>
      </p:sp>
      <p:sp>
        <p:nvSpPr>
          <p:cNvPr id="116" name="Google Shape;116;p15"/>
          <p:cNvSpPr txBox="1"/>
          <p:nvPr/>
        </p:nvSpPr>
        <p:spPr>
          <a:xfrm>
            <a:off x="8155410" y="5848987"/>
            <a:ext cx="202651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92E53"/>
                </a:solidFill>
                <a:latin typeface="Arial"/>
                <a:ea typeface="Arial"/>
                <a:cs typeface="Arial"/>
                <a:sym typeface="Arial"/>
              </a:rPr>
              <a:t>Fares Mamdouh</a:t>
            </a:r>
            <a:endParaRPr/>
          </a:p>
        </p:txBody>
      </p:sp>
      <p:sp>
        <p:nvSpPr>
          <p:cNvPr id="117" name="Google Shape;117;p15"/>
          <p:cNvSpPr txBox="1"/>
          <p:nvPr/>
        </p:nvSpPr>
        <p:spPr>
          <a:xfrm>
            <a:off x="80362" y="1997728"/>
            <a:ext cx="3337773" cy="1754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5400">
                <a:solidFill>
                  <a:srgbClr val="092E53"/>
                </a:solidFill>
                <a:latin typeface="Arial"/>
                <a:ea typeface="Arial"/>
                <a:cs typeface="Arial"/>
                <a:sym typeface="Arial"/>
              </a:rPr>
              <a:t>Our</a:t>
            </a:r>
            <a:br>
              <a:rPr lang="en-US" sz="5400">
                <a:solidFill>
                  <a:srgbClr val="092E53"/>
                </a:solidFill>
                <a:latin typeface="Arial"/>
                <a:ea typeface="Arial"/>
                <a:cs typeface="Arial"/>
                <a:sym typeface="Arial"/>
              </a:rPr>
            </a:br>
            <a:r>
              <a:rPr lang="en-US" sz="5400">
                <a:solidFill>
                  <a:srgbClr val="092E53"/>
                </a:solidFill>
                <a:latin typeface="Arial"/>
                <a:ea typeface="Arial"/>
                <a:cs typeface="Arial"/>
                <a:sym typeface="Arial"/>
              </a:rPr>
              <a:t> Approach</a:t>
            </a:r>
            <a:endParaRPr/>
          </a:p>
        </p:txBody>
      </p:sp>
      <p:sp>
        <p:nvSpPr>
          <p:cNvPr id="118" name="Google Shape;118;p15"/>
          <p:cNvSpPr txBox="1"/>
          <p:nvPr/>
        </p:nvSpPr>
        <p:spPr>
          <a:xfrm>
            <a:off x="7290191" y="4358116"/>
            <a:ext cx="22509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92E53"/>
                </a:solidFill>
                <a:latin typeface="Arial"/>
                <a:ea typeface="Arial"/>
                <a:cs typeface="Arial"/>
                <a:sym typeface="Arial"/>
              </a:rPr>
              <a:t>Youssef Mohamed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descr="A blue and white rectangle&#10;&#10;AI-generated content may be incorrect." id="123" name="Google Shape;123;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4" name="Google Shape;124;p16"/>
          <p:cNvSpPr txBox="1"/>
          <p:nvPr/>
        </p:nvSpPr>
        <p:spPr>
          <a:xfrm>
            <a:off x="665825" y="656947"/>
            <a:ext cx="4740400"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FFFFFF"/>
                </a:solidFill>
                <a:latin typeface="Arial"/>
                <a:ea typeface="Arial"/>
                <a:cs typeface="Arial"/>
                <a:sym typeface="Arial"/>
              </a:rPr>
              <a:t>Project Objectives</a:t>
            </a:r>
            <a:endParaRPr/>
          </a:p>
        </p:txBody>
      </p:sp>
      <p:sp>
        <p:nvSpPr>
          <p:cNvPr id="125" name="Google Shape;125;p16"/>
          <p:cNvSpPr txBox="1"/>
          <p:nvPr/>
        </p:nvSpPr>
        <p:spPr>
          <a:xfrm>
            <a:off x="1216241" y="3116061"/>
            <a:ext cx="10076155"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rgbClr val="092E53"/>
                </a:solidFill>
                <a:latin typeface="Arial"/>
                <a:ea typeface="Arial"/>
                <a:cs typeface="Arial"/>
                <a:sym typeface="Arial"/>
              </a:rPr>
              <a:t>Visualize sales performance across different dimensions Identify key trends and patterns in customer behavior Analyze product categories and their performance Provide insights for data-driven business decisions Create an interactive and user-friendly dashboard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descr="A close-up of a line of orange and white icons" id="130" name="Google Shape;130;p17"/>
          <p:cNvPicPr preferRelativeResize="0"/>
          <p:nvPr/>
        </p:nvPicPr>
        <p:blipFill rotWithShape="1">
          <a:blip r:embed="rId3">
            <a:alphaModFix/>
          </a:blip>
          <a:srcRect b="0" l="0" r="0" t="0"/>
          <a:stretch/>
        </p:blipFill>
        <p:spPr>
          <a:xfrm>
            <a:off x="0" y="-15750"/>
            <a:ext cx="12192000" cy="6854664"/>
          </a:xfrm>
          <a:prstGeom prst="rect">
            <a:avLst/>
          </a:prstGeom>
          <a:noFill/>
          <a:ln>
            <a:noFill/>
          </a:ln>
        </p:spPr>
      </p:pic>
      <p:sp>
        <p:nvSpPr>
          <p:cNvPr id="131" name="Google Shape;131;p17"/>
          <p:cNvSpPr txBox="1"/>
          <p:nvPr/>
        </p:nvSpPr>
        <p:spPr>
          <a:xfrm>
            <a:off x="791285" y="4371704"/>
            <a:ext cx="1968809"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92E53"/>
                </a:solidFill>
                <a:latin typeface="Arial"/>
                <a:ea typeface="Arial"/>
                <a:cs typeface="Arial"/>
                <a:sym typeface="Arial"/>
              </a:rPr>
              <a:t>Data Collection </a:t>
            </a:r>
            <a:br>
              <a:rPr lang="en-US" sz="1800">
                <a:solidFill>
                  <a:srgbClr val="092E53"/>
                </a:solidFill>
                <a:latin typeface="Arial"/>
                <a:ea typeface="Arial"/>
                <a:cs typeface="Arial"/>
                <a:sym typeface="Arial"/>
              </a:rPr>
            </a:br>
            <a:r>
              <a:rPr lang="en-US" sz="1800">
                <a:solidFill>
                  <a:srgbClr val="092E53"/>
                </a:solidFill>
                <a:latin typeface="Arial"/>
                <a:ea typeface="Arial"/>
                <a:cs typeface="Arial"/>
                <a:sym typeface="Arial"/>
              </a:rPr>
              <a:t>&amp; Understanding </a:t>
            </a:r>
            <a:endParaRPr/>
          </a:p>
        </p:txBody>
      </p:sp>
      <p:sp>
        <p:nvSpPr>
          <p:cNvPr id="132" name="Google Shape;132;p17"/>
          <p:cNvSpPr txBox="1"/>
          <p:nvPr/>
        </p:nvSpPr>
        <p:spPr>
          <a:xfrm>
            <a:off x="3100644" y="4411673"/>
            <a:ext cx="16802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92E53"/>
                </a:solidFill>
                <a:latin typeface="Arial"/>
                <a:ea typeface="Arial"/>
                <a:cs typeface="Arial"/>
                <a:sym typeface="Arial"/>
              </a:rPr>
              <a:t>Data Cleaning </a:t>
            </a:r>
            <a:endParaRPr/>
          </a:p>
        </p:txBody>
      </p:sp>
      <p:sp>
        <p:nvSpPr>
          <p:cNvPr id="133" name="Google Shape;133;p17"/>
          <p:cNvSpPr txBox="1"/>
          <p:nvPr/>
        </p:nvSpPr>
        <p:spPr>
          <a:xfrm>
            <a:off x="5610393" y="4371703"/>
            <a:ext cx="126188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92E53"/>
                </a:solidFill>
                <a:latin typeface="Arial"/>
                <a:ea typeface="Arial"/>
                <a:cs typeface="Arial"/>
                <a:sym typeface="Arial"/>
              </a:rPr>
              <a:t>Measures </a:t>
            </a:r>
            <a:br>
              <a:rPr lang="en-US" sz="1800">
                <a:solidFill>
                  <a:srgbClr val="092E53"/>
                </a:solidFill>
                <a:latin typeface="Arial"/>
                <a:ea typeface="Arial"/>
                <a:cs typeface="Arial"/>
                <a:sym typeface="Arial"/>
              </a:rPr>
            </a:br>
            <a:r>
              <a:rPr lang="en-US" sz="1800">
                <a:solidFill>
                  <a:srgbClr val="092E53"/>
                </a:solidFill>
                <a:latin typeface="Arial"/>
                <a:ea typeface="Arial"/>
                <a:cs typeface="Arial"/>
                <a:sym typeface="Arial"/>
              </a:rPr>
              <a:t>Selection</a:t>
            </a:r>
            <a:endParaRPr/>
          </a:p>
        </p:txBody>
      </p:sp>
      <p:sp>
        <p:nvSpPr>
          <p:cNvPr id="134" name="Google Shape;134;p17"/>
          <p:cNvSpPr txBox="1"/>
          <p:nvPr/>
        </p:nvSpPr>
        <p:spPr>
          <a:xfrm>
            <a:off x="7631342" y="4429090"/>
            <a:ext cx="147829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92E53"/>
                </a:solidFill>
                <a:latin typeface="Arial"/>
                <a:ea typeface="Arial"/>
                <a:cs typeface="Arial"/>
                <a:sym typeface="Arial"/>
              </a:rPr>
              <a:t>visualization</a:t>
            </a:r>
            <a:endParaRPr/>
          </a:p>
        </p:txBody>
      </p:sp>
      <p:sp>
        <p:nvSpPr>
          <p:cNvPr id="135" name="Google Shape;135;p17"/>
          <p:cNvSpPr txBox="1"/>
          <p:nvPr/>
        </p:nvSpPr>
        <p:spPr>
          <a:xfrm>
            <a:off x="9722576" y="4429090"/>
            <a:ext cx="15969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092E53"/>
                </a:solidFill>
                <a:latin typeface="Arial"/>
                <a:ea typeface="Arial"/>
                <a:cs typeface="Arial"/>
                <a:sym typeface="Arial"/>
              </a:rPr>
              <a:t>interpretation</a:t>
            </a:r>
            <a:endParaRPr/>
          </a:p>
        </p:txBody>
      </p:sp>
      <p:sp>
        <p:nvSpPr>
          <p:cNvPr id="136" name="Google Shape;136;p17"/>
          <p:cNvSpPr txBox="1"/>
          <p:nvPr/>
        </p:nvSpPr>
        <p:spPr>
          <a:xfrm>
            <a:off x="791285" y="592182"/>
            <a:ext cx="3433953"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FFFFFF"/>
                </a:solidFill>
                <a:latin typeface="Arial"/>
                <a:ea typeface="Arial"/>
                <a:cs typeface="Arial"/>
                <a:sym typeface="Arial"/>
              </a:rPr>
              <a:t>Methodology</a:t>
            </a:r>
            <a:r>
              <a:rPr lang="en-US" sz="1800">
                <a:solidFill>
                  <a:schemeClr val="dk1"/>
                </a:solidFill>
                <a:latin typeface="Arial"/>
                <a:ea typeface="Arial"/>
                <a:cs typeface="Arial"/>
                <a:sym typeface="Arial"/>
              </a:rPr>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descr="A blue and white rectangle&#10;&#10;AI-generated content may be incorrect." id="141" name="Google Shape;141;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42" name="Google Shape;142;p18"/>
          <p:cNvPicPr preferRelativeResize="0"/>
          <p:nvPr/>
        </p:nvPicPr>
        <p:blipFill rotWithShape="1">
          <a:blip r:embed="rId4">
            <a:alphaModFix/>
          </a:blip>
          <a:srcRect b="0" l="0" r="0" t="0"/>
          <a:stretch/>
        </p:blipFill>
        <p:spPr>
          <a:xfrm>
            <a:off x="8936550" y="2845646"/>
            <a:ext cx="2410719" cy="2475177"/>
          </a:xfrm>
          <a:prstGeom prst="rect">
            <a:avLst/>
          </a:prstGeom>
          <a:noFill/>
          <a:ln>
            <a:noFill/>
          </a:ln>
        </p:spPr>
      </p:pic>
      <p:sp>
        <p:nvSpPr>
          <p:cNvPr id="143" name="Google Shape;143;p18"/>
          <p:cNvSpPr txBox="1"/>
          <p:nvPr/>
        </p:nvSpPr>
        <p:spPr>
          <a:xfrm>
            <a:off x="635725" y="412769"/>
            <a:ext cx="4549643" cy="144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FFFFFF"/>
                </a:solidFill>
                <a:latin typeface="Arial"/>
                <a:ea typeface="Arial"/>
                <a:cs typeface="Arial"/>
                <a:sym typeface="Arial"/>
              </a:rPr>
              <a:t>Data collection </a:t>
            </a:r>
            <a:br>
              <a:rPr lang="en-US" sz="4400">
                <a:solidFill>
                  <a:srgbClr val="FFFFFF"/>
                </a:solidFill>
                <a:latin typeface="Arial"/>
                <a:ea typeface="Arial"/>
                <a:cs typeface="Arial"/>
                <a:sym typeface="Arial"/>
              </a:rPr>
            </a:br>
            <a:r>
              <a:rPr lang="en-US" sz="4400">
                <a:solidFill>
                  <a:srgbClr val="FFFFFF"/>
                </a:solidFill>
                <a:latin typeface="Arial"/>
                <a:ea typeface="Arial"/>
                <a:cs typeface="Arial"/>
                <a:sym typeface="Arial"/>
              </a:rPr>
              <a:t>&amp; Understanding </a:t>
            </a:r>
            <a:endParaRPr/>
          </a:p>
        </p:txBody>
      </p:sp>
      <p:sp>
        <p:nvSpPr>
          <p:cNvPr id="144" name="Google Shape;144;p18"/>
          <p:cNvSpPr txBox="1"/>
          <p:nvPr/>
        </p:nvSpPr>
        <p:spPr>
          <a:xfrm>
            <a:off x="235133" y="2784686"/>
            <a:ext cx="8614331" cy="28315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92E53"/>
                </a:solidFill>
                <a:latin typeface="Arial"/>
                <a:ea typeface="Arial"/>
                <a:cs typeface="Arial"/>
                <a:sym typeface="Arial"/>
              </a:rPr>
              <a:t>Our analysis incorporates comprehensive Olist transaction data including </a:t>
            </a:r>
            <a:br>
              <a:rPr lang="en-US" sz="2000">
                <a:solidFill>
                  <a:srgbClr val="092E53"/>
                </a:solidFill>
                <a:latin typeface="Arial"/>
                <a:ea typeface="Arial"/>
                <a:cs typeface="Arial"/>
                <a:sym typeface="Arial"/>
              </a:rPr>
            </a:br>
            <a:br>
              <a:rPr lang="en-US" sz="2000">
                <a:solidFill>
                  <a:srgbClr val="092E53"/>
                </a:solidFill>
                <a:latin typeface="Arial"/>
                <a:ea typeface="Arial"/>
                <a:cs typeface="Arial"/>
                <a:sym typeface="Arial"/>
              </a:rPr>
            </a:br>
            <a:r>
              <a:rPr lang="en-US" sz="2000">
                <a:solidFill>
                  <a:srgbClr val="092E53"/>
                </a:solidFill>
                <a:latin typeface="Arial"/>
                <a:ea typeface="Arial"/>
                <a:cs typeface="Arial"/>
                <a:sym typeface="Arial"/>
              </a:rPr>
              <a:t> 📊 customer ID , seller ID , customer unique ID </a:t>
            </a:r>
            <a:br>
              <a:rPr lang="en-US" sz="2000">
                <a:solidFill>
                  <a:srgbClr val="092E53"/>
                </a:solidFill>
                <a:latin typeface="Arial"/>
                <a:ea typeface="Arial"/>
                <a:cs typeface="Arial"/>
                <a:sym typeface="Arial"/>
              </a:rPr>
            </a:br>
            <a:r>
              <a:rPr lang="en-US" sz="2000">
                <a:solidFill>
                  <a:srgbClr val="092E53"/>
                </a:solidFill>
                <a:latin typeface="Arial"/>
                <a:ea typeface="Arial"/>
                <a:cs typeface="Arial"/>
                <a:sym typeface="Arial"/>
              </a:rPr>
              <a:t> 🌍 customer city , customer state , ZIP code , geolocation city </a:t>
            </a:r>
            <a:br>
              <a:rPr lang="en-US" sz="2000">
                <a:solidFill>
                  <a:srgbClr val="092E53"/>
                </a:solidFill>
                <a:latin typeface="Arial"/>
                <a:ea typeface="Arial"/>
                <a:cs typeface="Arial"/>
                <a:sym typeface="Arial"/>
              </a:rPr>
            </a:br>
            <a:r>
              <a:rPr lang="en-US" sz="2000">
                <a:solidFill>
                  <a:srgbClr val="092E53"/>
                </a:solidFill>
                <a:latin typeface="Arial"/>
                <a:ea typeface="Arial"/>
                <a:cs typeface="Arial"/>
                <a:sym typeface="Arial"/>
              </a:rPr>
              <a:t> 🛒 order ID , order item ID </a:t>
            </a:r>
            <a:br>
              <a:rPr lang="en-US" sz="2000">
                <a:solidFill>
                  <a:srgbClr val="092E53"/>
                </a:solidFill>
                <a:latin typeface="Arial"/>
                <a:ea typeface="Arial"/>
                <a:cs typeface="Arial"/>
                <a:sym typeface="Arial"/>
              </a:rPr>
            </a:br>
            <a:r>
              <a:rPr lang="en-US" sz="2000">
                <a:solidFill>
                  <a:srgbClr val="092E53"/>
                </a:solidFill>
                <a:latin typeface="Arial"/>
                <a:ea typeface="Arial"/>
                <a:cs typeface="Arial"/>
                <a:sym typeface="Arial"/>
              </a:rPr>
              <a:t> 📦 product ID</a:t>
            </a:r>
            <a:br>
              <a:rPr lang="en-US" sz="2000">
                <a:solidFill>
                  <a:srgbClr val="092E53"/>
                </a:solidFill>
                <a:latin typeface="Arial"/>
                <a:ea typeface="Arial"/>
                <a:cs typeface="Arial"/>
                <a:sym typeface="Arial"/>
              </a:rPr>
            </a:br>
            <a:r>
              <a:rPr lang="en-US" sz="2000">
                <a:solidFill>
                  <a:srgbClr val="092E53"/>
                </a:solidFill>
                <a:latin typeface="Arial"/>
                <a:ea typeface="Arial"/>
                <a:cs typeface="Arial"/>
                <a:sym typeface="Arial"/>
              </a:rPr>
              <a:t> 💳 price, payment value ,  freight value , payment type </a:t>
            </a:r>
            <a:br>
              <a:rPr lang="en-US" sz="2000">
                <a:solidFill>
                  <a:srgbClr val="092E53"/>
                </a:solidFill>
                <a:latin typeface="Arial"/>
                <a:ea typeface="Arial"/>
                <a:cs typeface="Arial"/>
                <a:sym typeface="Arial"/>
              </a:rPr>
            </a:br>
            <a:r>
              <a:rPr lang="en-US" sz="2000">
                <a:solidFill>
                  <a:srgbClr val="092E53"/>
                </a:solidFill>
                <a:latin typeface="Arial"/>
                <a:ea typeface="Arial"/>
                <a:cs typeface="Arial"/>
                <a:sym typeface="Arial"/>
              </a:rPr>
              <a:t> 📋 shipping date, review date , order status , delivery date , review score</a:t>
            </a:r>
            <a:br>
              <a:rPr lang="en-US" sz="1800">
                <a:solidFill>
                  <a:schemeClr val="dk1"/>
                </a:solidFill>
                <a:latin typeface="Arial"/>
                <a:ea typeface="Arial"/>
                <a:cs typeface="Arial"/>
                <a:sym typeface="Arial"/>
              </a:rPr>
            </a:br>
            <a:endParaRPr sz="1800">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A blue and orange rectangles&#10;&#10;AI-generated content may be incorrect." id="149" name="Google Shape;149;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0" name="Google Shape;150;p19"/>
          <p:cNvSpPr txBox="1"/>
          <p:nvPr/>
        </p:nvSpPr>
        <p:spPr>
          <a:xfrm>
            <a:off x="646980" y="370936"/>
            <a:ext cx="4549643" cy="172354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FFFFFF"/>
                </a:solidFill>
                <a:latin typeface="Arial"/>
                <a:ea typeface="Arial"/>
                <a:cs typeface="Arial"/>
                <a:sym typeface="Arial"/>
              </a:rPr>
              <a:t>Data collection </a:t>
            </a:r>
            <a:br>
              <a:rPr lang="en-US" sz="4400">
                <a:solidFill>
                  <a:srgbClr val="FFFFFF"/>
                </a:solidFill>
                <a:latin typeface="Arial"/>
                <a:ea typeface="Arial"/>
                <a:cs typeface="Arial"/>
                <a:sym typeface="Arial"/>
              </a:rPr>
            </a:br>
            <a:r>
              <a:rPr lang="en-US" sz="4400">
                <a:solidFill>
                  <a:srgbClr val="FFFFFF"/>
                </a:solidFill>
                <a:latin typeface="Arial"/>
                <a:ea typeface="Arial"/>
                <a:cs typeface="Arial"/>
                <a:sym typeface="Arial"/>
              </a:rPr>
              <a:t>&amp; Understanding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1" name="Google Shape;151;p19"/>
          <p:cNvSpPr/>
          <p:nvPr/>
        </p:nvSpPr>
        <p:spPr>
          <a:xfrm>
            <a:off x="442761" y="2367814"/>
            <a:ext cx="11749239" cy="4490186"/>
          </a:xfrm>
          <a:prstGeom prst="rect">
            <a:avLst/>
          </a:prstGeom>
          <a:solidFill>
            <a:srgbClr val="FFFFFF"/>
          </a:solidFill>
          <a:ln cap="flat" cmpd="sng" w="1905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screenshot of a computer&#10;&#10;AI-generated content may be incorrect." id="152" name="Google Shape;152;p19"/>
          <p:cNvPicPr preferRelativeResize="0"/>
          <p:nvPr/>
        </p:nvPicPr>
        <p:blipFill rotWithShape="1">
          <a:blip r:embed="rId4">
            <a:alphaModFix/>
          </a:blip>
          <a:srcRect b="0" l="0" r="0" t="0"/>
          <a:stretch/>
        </p:blipFill>
        <p:spPr>
          <a:xfrm>
            <a:off x="267418" y="2386649"/>
            <a:ext cx="2553419" cy="4472383"/>
          </a:xfrm>
          <a:prstGeom prst="rect">
            <a:avLst/>
          </a:prstGeom>
          <a:noFill/>
          <a:ln>
            <a:noFill/>
          </a:ln>
        </p:spPr>
      </p:pic>
      <p:pic>
        <p:nvPicPr>
          <p:cNvPr descr="A screenshot of a computer&#10;&#10;AI-generated content may be incorrect." id="153" name="Google Shape;153;p19"/>
          <p:cNvPicPr preferRelativeResize="0"/>
          <p:nvPr/>
        </p:nvPicPr>
        <p:blipFill rotWithShape="1">
          <a:blip r:embed="rId5">
            <a:alphaModFix/>
          </a:blip>
          <a:srcRect b="0" l="0" r="0" t="0"/>
          <a:stretch/>
        </p:blipFill>
        <p:spPr>
          <a:xfrm>
            <a:off x="3164117" y="2385617"/>
            <a:ext cx="3935422" cy="4474448"/>
          </a:xfrm>
          <a:prstGeom prst="rect">
            <a:avLst/>
          </a:prstGeom>
          <a:noFill/>
          <a:ln>
            <a:noFill/>
          </a:ln>
        </p:spPr>
      </p:pic>
      <p:pic>
        <p:nvPicPr>
          <p:cNvPr id="154" name="Google Shape;154;p19"/>
          <p:cNvPicPr preferRelativeResize="0"/>
          <p:nvPr/>
        </p:nvPicPr>
        <p:blipFill rotWithShape="1">
          <a:blip r:embed="rId6">
            <a:alphaModFix/>
          </a:blip>
          <a:srcRect b="0" l="0" r="0" t="0"/>
          <a:stretch/>
        </p:blipFill>
        <p:spPr>
          <a:xfrm>
            <a:off x="7522234" y="2367814"/>
            <a:ext cx="4367842" cy="448786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descr="A blue and white rectangle&#10;&#10;AI-generated content may be incorrect." id="159" name="Google Shape;159;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0" name="Google Shape;160;p20"/>
          <p:cNvSpPr txBox="1"/>
          <p:nvPr/>
        </p:nvSpPr>
        <p:spPr>
          <a:xfrm>
            <a:off x="705394" y="531223"/>
            <a:ext cx="3836307"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FFFFFF"/>
                </a:solidFill>
                <a:latin typeface="Arial"/>
                <a:ea typeface="Arial"/>
                <a:cs typeface="Arial"/>
                <a:sym typeface="Arial"/>
              </a:rPr>
              <a:t>Data Cleaning </a:t>
            </a:r>
            <a:endParaRPr/>
          </a:p>
        </p:txBody>
      </p:sp>
      <p:sp>
        <p:nvSpPr>
          <p:cNvPr id="161" name="Google Shape;161;p20"/>
          <p:cNvSpPr txBox="1"/>
          <p:nvPr/>
        </p:nvSpPr>
        <p:spPr>
          <a:xfrm>
            <a:off x="604405" y="2721114"/>
            <a:ext cx="469551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92E53"/>
                </a:solidFill>
                <a:latin typeface="Arial"/>
                <a:ea typeface="Arial"/>
                <a:cs typeface="Arial"/>
                <a:sym typeface="Arial"/>
              </a:rPr>
              <a:t>Data Cleaning Using SQL Server </a:t>
            </a:r>
            <a:br>
              <a:rPr lang="en-US" sz="2400">
                <a:solidFill>
                  <a:srgbClr val="092E53"/>
                </a:solidFill>
                <a:latin typeface="Arial"/>
                <a:ea typeface="Arial"/>
                <a:cs typeface="Arial"/>
                <a:sym typeface="Arial"/>
              </a:rPr>
            </a:br>
            <a:endParaRPr sz="2400">
              <a:solidFill>
                <a:srgbClr val="092E53"/>
              </a:solidFill>
              <a:latin typeface="Arial"/>
              <a:ea typeface="Arial"/>
              <a:cs typeface="Arial"/>
              <a:sym typeface="Arial"/>
            </a:endParaRPr>
          </a:p>
        </p:txBody>
      </p:sp>
      <p:sp>
        <p:nvSpPr>
          <p:cNvPr id="162" name="Google Shape;162;p20"/>
          <p:cNvSpPr txBox="1"/>
          <p:nvPr/>
        </p:nvSpPr>
        <p:spPr>
          <a:xfrm>
            <a:off x="604405" y="3526011"/>
            <a:ext cx="9567206"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We utilized SQL Server to perform comprehensive data cleaning operations including handling null values with Connection Function , Detection Function , Main Function and Data Cleaning Function functions, removing duplicates using ROW_NUMBER() and CTE queries, and standardizing inconsistent entries through UPDATE statements. SQL queries enabled efficient identification and correction of data quality issues across millions of records, ensuring clean and reliable data for analysis.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descr="A blue and orange rectangles&#10;&#10;AI-generated content may be incorrect." id="167" name="Google Shape;167;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8" name="Google Shape;168;p21"/>
          <p:cNvSpPr txBox="1"/>
          <p:nvPr/>
        </p:nvSpPr>
        <p:spPr>
          <a:xfrm>
            <a:off x="1000171" y="557841"/>
            <a:ext cx="3836307"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FFFFFF"/>
                </a:solidFill>
                <a:latin typeface="Arial"/>
                <a:ea typeface="Arial"/>
                <a:cs typeface="Arial"/>
                <a:sym typeface="Arial"/>
              </a:rPr>
              <a:t>Data Cleaning </a:t>
            </a:r>
            <a:endParaRPr/>
          </a:p>
        </p:txBody>
      </p:sp>
      <p:pic>
        <p:nvPicPr>
          <p:cNvPr descr="A screenshot of a computer code&#10;&#10;AI-generated content may be incorrect." id="169" name="Google Shape;169;p21"/>
          <p:cNvPicPr preferRelativeResize="0"/>
          <p:nvPr/>
        </p:nvPicPr>
        <p:blipFill rotWithShape="1">
          <a:blip r:embed="rId4">
            <a:alphaModFix/>
          </a:blip>
          <a:srcRect b="0" l="0" r="0" t="0"/>
          <a:stretch/>
        </p:blipFill>
        <p:spPr>
          <a:xfrm>
            <a:off x="686873" y="2838996"/>
            <a:ext cx="3161035" cy="3317966"/>
          </a:xfrm>
          <a:prstGeom prst="rect">
            <a:avLst/>
          </a:prstGeom>
          <a:noFill/>
          <a:ln>
            <a:noFill/>
          </a:ln>
        </p:spPr>
      </p:pic>
      <p:pic>
        <p:nvPicPr>
          <p:cNvPr id="170" name="Google Shape;170;p21"/>
          <p:cNvPicPr preferRelativeResize="0"/>
          <p:nvPr/>
        </p:nvPicPr>
        <p:blipFill rotWithShape="1">
          <a:blip r:embed="rId5">
            <a:alphaModFix/>
          </a:blip>
          <a:srcRect b="0" l="0" r="0" t="0"/>
          <a:stretch/>
        </p:blipFill>
        <p:spPr>
          <a:xfrm>
            <a:off x="4564995" y="2838995"/>
            <a:ext cx="3084059" cy="3317966"/>
          </a:xfrm>
          <a:prstGeom prst="rect">
            <a:avLst/>
          </a:prstGeom>
          <a:noFill/>
          <a:ln>
            <a:noFill/>
          </a:ln>
        </p:spPr>
      </p:pic>
      <p:pic>
        <p:nvPicPr>
          <p:cNvPr descr="A screenshot of a computer code&#10;&#10;AI-generated content may be incorrect." id="171" name="Google Shape;171;p21"/>
          <p:cNvPicPr preferRelativeResize="0"/>
          <p:nvPr/>
        </p:nvPicPr>
        <p:blipFill rotWithShape="1">
          <a:blip r:embed="rId6">
            <a:alphaModFix/>
          </a:blip>
          <a:srcRect b="0" l="0" r="0" t="0"/>
          <a:stretch/>
        </p:blipFill>
        <p:spPr>
          <a:xfrm>
            <a:off x="8412902" y="2838995"/>
            <a:ext cx="3084059" cy="331796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descr="A blue and orange rectangles&#10;&#10;AI-generated content may be incorrect." id="176" name="Google Shape;176;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7" name="Google Shape;177;p22"/>
          <p:cNvSpPr txBox="1"/>
          <p:nvPr/>
        </p:nvSpPr>
        <p:spPr>
          <a:xfrm>
            <a:off x="1000937" y="561353"/>
            <a:ext cx="3836307" cy="10464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FFFFFF"/>
                </a:solidFill>
                <a:latin typeface="Arial"/>
                <a:ea typeface="Arial"/>
                <a:cs typeface="Arial"/>
                <a:sym typeface="Arial"/>
              </a:rPr>
              <a:t>Data Cleaning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8" name="Google Shape;178;p22"/>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descr="A screenshot of a computer&#10;&#10;AI-generated content may be incorrect." id="179" name="Google Shape;179;p22"/>
          <p:cNvPicPr preferRelativeResize="0"/>
          <p:nvPr/>
        </p:nvPicPr>
        <p:blipFill rotWithShape="1">
          <a:blip r:embed="rId4">
            <a:alphaModFix/>
          </a:blip>
          <a:srcRect b="0" l="0" r="0" t="0"/>
          <a:stretch/>
        </p:blipFill>
        <p:spPr>
          <a:xfrm>
            <a:off x="4473472" y="2580736"/>
            <a:ext cx="3245056" cy="3845943"/>
          </a:xfrm>
          <a:prstGeom prst="rect">
            <a:avLst/>
          </a:prstGeom>
          <a:noFill/>
          <a:ln>
            <a:noFill/>
          </a:ln>
        </p:spPr>
      </p:pic>
      <p:pic>
        <p:nvPicPr>
          <p:cNvPr descr="A screenshot of a computer&#10;&#10;AI-generated content may be incorrect." id="180" name="Google Shape;180;p22"/>
          <p:cNvPicPr preferRelativeResize="0"/>
          <p:nvPr/>
        </p:nvPicPr>
        <p:blipFill rotWithShape="1">
          <a:blip r:embed="rId5">
            <a:alphaModFix/>
          </a:blip>
          <a:srcRect b="0" l="0" r="0" t="0"/>
          <a:stretch/>
        </p:blipFill>
        <p:spPr>
          <a:xfrm>
            <a:off x="8340705" y="2580736"/>
            <a:ext cx="3142234" cy="3845943"/>
          </a:xfrm>
          <a:prstGeom prst="rect">
            <a:avLst/>
          </a:prstGeom>
          <a:noFill/>
          <a:ln>
            <a:noFill/>
          </a:ln>
        </p:spPr>
      </p:pic>
      <p:pic>
        <p:nvPicPr>
          <p:cNvPr id="181" name="Google Shape;181;p22"/>
          <p:cNvPicPr preferRelativeResize="0"/>
          <p:nvPr/>
        </p:nvPicPr>
        <p:blipFill rotWithShape="1">
          <a:blip r:embed="rId6">
            <a:alphaModFix/>
          </a:blip>
          <a:srcRect b="0" l="0" r="0" t="0"/>
          <a:stretch/>
        </p:blipFill>
        <p:spPr>
          <a:xfrm>
            <a:off x="632800" y="2580736"/>
            <a:ext cx="3218495" cy="384594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descr="A blue and white rectangle&#10;&#10;AI-generated content may be incorrect." id="186" name="Google Shape;186;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7" name="Google Shape;187;p23"/>
          <p:cNvSpPr txBox="1"/>
          <p:nvPr/>
        </p:nvSpPr>
        <p:spPr>
          <a:xfrm>
            <a:off x="705394" y="531223"/>
            <a:ext cx="5262979"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FFFFFF"/>
                </a:solidFill>
                <a:latin typeface="Arial"/>
                <a:ea typeface="Arial"/>
                <a:cs typeface="Arial"/>
                <a:sym typeface="Arial"/>
              </a:rPr>
              <a:t>Measures selection </a:t>
            </a:r>
            <a:endParaRPr/>
          </a:p>
        </p:txBody>
      </p:sp>
      <p:sp>
        <p:nvSpPr>
          <p:cNvPr id="188" name="Google Shape;188;p23"/>
          <p:cNvSpPr txBox="1"/>
          <p:nvPr/>
        </p:nvSpPr>
        <p:spPr>
          <a:xfrm>
            <a:off x="604405" y="2721114"/>
            <a:ext cx="4695516"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92E53"/>
                </a:solidFill>
                <a:latin typeface="Arial"/>
                <a:ea typeface="Arial"/>
                <a:cs typeface="Arial"/>
                <a:sym typeface="Arial"/>
              </a:rPr>
              <a:t>Data Cleaning Using SQL Server </a:t>
            </a:r>
            <a:br>
              <a:rPr lang="en-US" sz="2400">
                <a:solidFill>
                  <a:srgbClr val="092E53"/>
                </a:solidFill>
                <a:latin typeface="Arial"/>
                <a:ea typeface="Arial"/>
                <a:cs typeface="Arial"/>
                <a:sym typeface="Arial"/>
              </a:rPr>
            </a:br>
            <a:endParaRPr sz="2400">
              <a:solidFill>
                <a:srgbClr val="092E53"/>
              </a:solidFill>
              <a:latin typeface="Arial"/>
              <a:ea typeface="Arial"/>
              <a:cs typeface="Arial"/>
              <a:sym typeface="Arial"/>
            </a:endParaRPr>
          </a:p>
        </p:txBody>
      </p:sp>
      <p:sp>
        <p:nvSpPr>
          <p:cNvPr id="189" name="Google Shape;189;p23"/>
          <p:cNvSpPr txBox="1"/>
          <p:nvPr/>
        </p:nvSpPr>
        <p:spPr>
          <a:xfrm>
            <a:off x="604405" y="3526011"/>
            <a:ext cx="9567206"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In this project, selecting the right measures in Power BI was a crucial step to transform raw data into actionable insights. I carefully created essential calculations—such as performance metrics, totals, averages, ratios, and KPIs—to enable clear analysis, highlight key trends, support decision-making, and ensure the dashboard effectively communicates business performance to stakeholders using DAX functions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pic>
        <p:nvPicPr>
          <p:cNvPr descr="A blue and orange rectangles&#10;&#10;AI-generated content may be incorrect." id="194" name="Google Shape;194;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5" name="Google Shape;195;p24"/>
          <p:cNvSpPr txBox="1"/>
          <p:nvPr/>
        </p:nvSpPr>
        <p:spPr>
          <a:xfrm>
            <a:off x="681485" y="517585"/>
            <a:ext cx="5262979" cy="10464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FFFFFF"/>
                </a:solidFill>
                <a:latin typeface="Arial"/>
                <a:ea typeface="Arial"/>
                <a:cs typeface="Arial"/>
                <a:sym typeface="Arial"/>
              </a:rPr>
              <a:t>Measures selection </a:t>
            </a:r>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6" name="Google Shape;196;p24"/>
          <p:cNvSpPr/>
          <p:nvPr/>
        </p:nvSpPr>
        <p:spPr>
          <a:xfrm>
            <a:off x="442761" y="2367814"/>
            <a:ext cx="11749239" cy="4490186"/>
          </a:xfrm>
          <a:prstGeom prst="rect">
            <a:avLst/>
          </a:prstGeom>
          <a:solidFill>
            <a:srgbClr val="FFFFFF"/>
          </a:solidFill>
          <a:ln cap="flat" cmpd="sng" w="1905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A computer screen with white text&#10;&#10;AI-generated content may be incorrect." id="197" name="Google Shape;197;p24"/>
          <p:cNvPicPr preferRelativeResize="0"/>
          <p:nvPr/>
        </p:nvPicPr>
        <p:blipFill rotWithShape="1">
          <a:blip r:embed="rId4">
            <a:alphaModFix/>
          </a:blip>
          <a:srcRect b="0" l="0" r="0" t="0"/>
          <a:stretch/>
        </p:blipFill>
        <p:spPr>
          <a:xfrm>
            <a:off x="6208294" y="2227453"/>
            <a:ext cx="5720030" cy="1127790"/>
          </a:xfrm>
          <a:prstGeom prst="rect">
            <a:avLst/>
          </a:prstGeom>
          <a:noFill/>
          <a:ln>
            <a:noFill/>
          </a:ln>
        </p:spPr>
      </p:pic>
      <p:pic>
        <p:nvPicPr>
          <p:cNvPr descr="A computer screen with text on it&#10;&#10;AI-generated content may be incorrect." id="198" name="Google Shape;198;p24"/>
          <p:cNvPicPr preferRelativeResize="0"/>
          <p:nvPr/>
        </p:nvPicPr>
        <p:blipFill rotWithShape="1">
          <a:blip r:embed="rId5">
            <a:alphaModFix/>
          </a:blip>
          <a:srcRect b="0" l="0" r="0" t="0"/>
          <a:stretch/>
        </p:blipFill>
        <p:spPr>
          <a:xfrm>
            <a:off x="365332" y="5303641"/>
            <a:ext cx="5484244" cy="1521177"/>
          </a:xfrm>
          <a:prstGeom prst="rect">
            <a:avLst/>
          </a:prstGeom>
          <a:noFill/>
          <a:ln>
            <a:noFill/>
          </a:ln>
        </p:spPr>
      </p:pic>
      <p:pic>
        <p:nvPicPr>
          <p:cNvPr descr="A screen shot of a computer code&#10;&#10;AI-generated content may be incorrect." id="199" name="Google Shape;199;p24"/>
          <p:cNvPicPr preferRelativeResize="0"/>
          <p:nvPr/>
        </p:nvPicPr>
        <p:blipFill rotWithShape="1">
          <a:blip r:embed="rId6">
            <a:alphaModFix/>
          </a:blip>
          <a:srcRect b="0" l="0" r="0" t="0"/>
          <a:stretch/>
        </p:blipFill>
        <p:spPr>
          <a:xfrm>
            <a:off x="358718" y="3746247"/>
            <a:ext cx="5484244" cy="1514194"/>
          </a:xfrm>
          <a:prstGeom prst="rect">
            <a:avLst/>
          </a:prstGeom>
          <a:noFill/>
          <a:ln>
            <a:noFill/>
          </a:ln>
        </p:spPr>
      </p:pic>
      <p:pic>
        <p:nvPicPr>
          <p:cNvPr descr="A computer screen with text&#10;&#10;AI-generated content may be incorrect." id="200" name="Google Shape;200;p24"/>
          <p:cNvPicPr preferRelativeResize="0"/>
          <p:nvPr/>
        </p:nvPicPr>
        <p:blipFill rotWithShape="1">
          <a:blip r:embed="rId7">
            <a:alphaModFix/>
          </a:blip>
          <a:srcRect b="0" l="0" r="0" t="0"/>
          <a:stretch/>
        </p:blipFill>
        <p:spPr>
          <a:xfrm>
            <a:off x="6214908" y="4875248"/>
            <a:ext cx="5720031" cy="1949570"/>
          </a:xfrm>
          <a:prstGeom prst="rect">
            <a:avLst/>
          </a:prstGeom>
          <a:noFill/>
          <a:ln>
            <a:noFill/>
          </a:ln>
        </p:spPr>
      </p:pic>
      <p:pic>
        <p:nvPicPr>
          <p:cNvPr descr="A computer screen with white text&#10;&#10;AI-generated content may be incorrect." id="201" name="Google Shape;201;p24"/>
          <p:cNvPicPr preferRelativeResize="0"/>
          <p:nvPr/>
        </p:nvPicPr>
        <p:blipFill rotWithShape="1">
          <a:blip r:embed="rId8">
            <a:alphaModFix/>
          </a:blip>
          <a:srcRect b="0" l="0" r="0" t="0"/>
          <a:stretch/>
        </p:blipFill>
        <p:spPr>
          <a:xfrm>
            <a:off x="6201680" y="3402041"/>
            <a:ext cx="5720031" cy="1430007"/>
          </a:xfrm>
          <a:prstGeom prst="rect">
            <a:avLst/>
          </a:prstGeom>
          <a:noFill/>
          <a:ln>
            <a:noFill/>
          </a:ln>
        </p:spPr>
      </p:pic>
      <p:pic>
        <p:nvPicPr>
          <p:cNvPr descr="A computer screen with text&#10;&#10;AI-generated content may be incorrect." id="202" name="Google Shape;202;p24"/>
          <p:cNvPicPr preferRelativeResize="0"/>
          <p:nvPr/>
        </p:nvPicPr>
        <p:blipFill rotWithShape="1">
          <a:blip r:embed="rId9">
            <a:alphaModFix/>
          </a:blip>
          <a:srcRect b="0" l="0" r="0" t="0"/>
          <a:stretch/>
        </p:blipFill>
        <p:spPr>
          <a:xfrm>
            <a:off x="365332" y="2215050"/>
            <a:ext cx="5477630" cy="151419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descr="A blue and white rectangle&#10;&#10;AI-generated content may be incorrect." id="207" name="Google Shape;207;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8" name="Google Shape;208;p25"/>
          <p:cNvSpPr txBox="1"/>
          <p:nvPr/>
        </p:nvSpPr>
        <p:spPr>
          <a:xfrm>
            <a:off x="750497" y="646981"/>
            <a:ext cx="4054415"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FFFFFF"/>
                </a:solidFill>
                <a:latin typeface="Arial"/>
                <a:ea typeface="Arial"/>
                <a:cs typeface="Arial"/>
                <a:sym typeface="Arial"/>
              </a:rPr>
              <a:t>Visualization</a:t>
            </a:r>
            <a:endParaRPr sz="1800">
              <a:solidFill>
                <a:srgbClr val="FFFFFF"/>
              </a:solidFill>
              <a:latin typeface="Arial"/>
              <a:ea typeface="Arial"/>
              <a:cs typeface="Arial"/>
              <a:sym typeface="Arial"/>
            </a:endParaRPr>
          </a:p>
        </p:txBody>
      </p:sp>
      <p:sp>
        <p:nvSpPr>
          <p:cNvPr id="209" name="Google Shape;209;p25"/>
          <p:cNvSpPr txBox="1"/>
          <p:nvPr/>
        </p:nvSpPr>
        <p:spPr>
          <a:xfrm>
            <a:off x="923027" y="2993365"/>
            <a:ext cx="7539486"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Arial"/>
                <a:ea typeface="Arial"/>
                <a:cs typeface="Arial"/>
                <a:sym typeface="Arial"/>
              </a:rPr>
              <a:t>In this project, designing effective visualizations in Power BI was essential to communicate insights clearly. I carefully selected charts, graphs, and tables that best represent the data, ensuring trends, patterns, and key metrics are easy to understand, enabling stakeholders to make informed decisions and enhancing the overall impact and usability of the dashboard.</a:t>
            </a:r>
            <a:endParaRPr sz="20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t/>
            </a:r>
            <a:endParaRPr/>
          </a:p>
        </p:txBody>
      </p:sp>
      <p:sp>
        <p:nvSpPr>
          <p:cNvPr id="215" name="Google Shape;215;p2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descr="A white background with orange triangle&#10;&#10;AI-generated content may be incorrect." id="216" name="Google Shape;216;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17" name="Google Shape;217;p26" title="Microsoft Power BI"/>
          <p:cNvPicPr preferRelativeResize="0"/>
          <p:nvPr/>
        </p:nvPicPr>
        <p:blipFill rotWithShape="1">
          <a:blip r:embed="rId4">
            <a:alphaModFix/>
          </a:blip>
          <a:srcRect b="0" l="0" r="0" t="0"/>
          <a:stretch/>
        </p:blipFill>
        <p:spPr>
          <a:xfrm>
            <a:off x="609000" y="136800"/>
            <a:ext cx="10974000" cy="6584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descr="A blue and white rectangle&#10;&#10;AI-generated content may be incorrect." id="222" name="Google Shape;222;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3" name="Google Shape;223;p27"/>
          <p:cNvSpPr txBox="1"/>
          <p:nvPr/>
        </p:nvSpPr>
        <p:spPr>
          <a:xfrm>
            <a:off x="966158" y="724619"/>
            <a:ext cx="3661580"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4400">
                <a:solidFill>
                  <a:srgbClr val="FFFFFF"/>
                </a:solidFill>
                <a:latin typeface="Arial"/>
                <a:ea typeface="Arial"/>
                <a:cs typeface="Arial"/>
                <a:sym typeface="Arial"/>
              </a:rPr>
              <a:t>Interpretation</a:t>
            </a:r>
            <a:endParaRPr/>
          </a:p>
        </p:txBody>
      </p:sp>
      <p:sp>
        <p:nvSpPr>
          <p:cNvPr id="224" name="Google Shape;224;p27"/>
          <p:cNvSpPr txBox="1"/>
          <p:nvPr/>
        </p:nvSpPr>
        <p:spPr>
          <a:xfrm>
            <a:off x="966158" y="3131389"/>
            <a:ext cx="7746521"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rgbClr val="092E53"/>
                </a:solidFill>
                <a:latin typeface="Arial"/>
                <a:ea typeface="Arial"/>
                <a:cs typeface="Arial"/>
                <a:sym typeface="Arial"/>
              </a:rPr>
              <a:t>In this project, interpreting the data in Power BI was a vital step to extract actionable insights. I analyzed the visualized metrics and trends to understand business performance, identify patterns, and highlight key opportunities. Clear interpretation ensures that stakeholders can make informed decisions, turning raw data and visualizations into meaningful conclusions that drive strategy and improvements.</a:t>
            </a:r>
            <a:endParaRPr sz="2000">
              <a:solidFill>
                <a:srgbClr val="092E53"/>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pic>
        <p:nvPicPr>
          <p:cNvPr descr="A person holding a pen and writing on a notebook" id="229" name="Google Shape;229;p28"/>
          <p:cNvPicPr preferRelativeResize="0"/>
          <p:nvPr/>
        </p:nvPicPr>
        <p:blipFill rotWithShape="1">
          <a:blip r:embed="rId3">
            <a:alphaModFix/>
          </a:blip>
          <a:srcRect b="0" l="0" r="0" t="0"/>
          <a:stretch/>
        </p:blipFill>
        <p:spPr>
          <a:xfrm>
            <a:off x="0" y="0"/>
            <a:ext cx="12191999" cy="6858000"/>
          </a:xfrm>
          <a:prstGeom prst="rect">
            <a:avLst/>
          </a:prstGeom>
          <a:noFill/>
          <a:ln>
            <a:noFill/>
          </a:ln>
        </p:spPr>
      </p:pic>
      <p:pic>
        <p:nvPicPr>
          <p:cNvPr descr="A blue and red logo&#10;&#10;AI-generated content may be incorrect." id="230" name="Google Shape;230;p28"/>
          <p:cNvPicPr preferRelativeResize="0"/>
          <p:nvPr/>
        </p:nvPicPr>
        <p:blipFill rotWithShape="1">
          <a:blip r:embed="rId4">
            <a:alphaModFix/>
          </a:blip>
          <a:srcRect b="0" l="0" r="0" t="0"/>
          <a:stretch/>
        </p:blipFill>
        <p:spPr>
          <a:xfrm>
            <a:off x="414201" y="63683"/>
            <a:ext cx="1347106" cy="1347106"/>
          </a:xfrm>
          <a:prstGeom prst="rect">
            <a:avLst/>
          </a:prstGeom>
          <a:noFill/>
          <a:ln>
            <a:noFill/>
          </a:ln>
        </p:spPr>
      </p:pic>
      <p:sp>
        <p:nvSpPr>
          <p:cNvPr id="231" name="Google Shape;231;p28"/>
          <p:cNvSpPr txBox="1"/>
          <p:nvPr/>
        </p:nvSpPr>
        <p:spPr>
          <a:xfrm>
            <a:off x="5565244" y="1118401"/>
            <a:ext cx="1061509"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3200">
                <a:solidFill>
                  <a:srgbClr val="092E53"/>
                </a:solidFill>
                <a:latin typeface="Arial"/>
                <a:ea typeface="Arial"/>
                <a:cs typeface="Arial"/>
                <a:sym typeface="Arial"/>
              </a:rPr>
              <a:t>DEPI</a:t>
            </a:r>
            <a:endParaRPr sz="2400">
              <a:solidFill>
                <a:srgbClr val="092E5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